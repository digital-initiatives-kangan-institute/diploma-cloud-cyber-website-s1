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F5A5C"/>
                </a:solidFill>
                <a:latin typeface="Source Sans 3"/>
              </a:rPr>
              <a:t>YAT</a:t>
            </a:r>
            <a:r>
              <a:rPr sz="2400" b="1" i="0">
                <a:solidFill>
                  <a:srgbClr val="C5613B"/>
                </a:solidFill>
                <a:latin typeface="Source Sans 3"/>
              </a:rPr>
              <a:t>  COLLEGE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F5A5C"/>
                </a:solidFill>
                <a:latin typeface="Source Sans 3"/>
              </a:rPr>
              <a:t>Business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5613B"/>
                </a:solidFill>
                <a:latin typeface="Source Sans 3"/>
              </a:rPr>
              <a:t>[ Project / initiative name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6634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6660"/>
                </a:solidFill>
                <a:latin typeface="Source Sans 3"/>
              </a:rPr>
              <a:t>[ Presenter name, role ]</a:t>
            </a:r>
          </a:p>
          <a:p>
            <a:pPr algn="ctr"/>
            <a:r>
              <a:rPr sz="1300" b="0" i="0">
                <a:solidFill>
                  <a:srgbClr val="6B6660"/>
                </a:solidFill>
                <a:latin typeface="Source Sans 3"/>
              </a:rPr>
              <a:t>[ Date ]   ·   [ Audience — e.g. YAT Board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F5A5C"/>
                </a:solidFill>
                <a:latin typeface="Source Sans 3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2011680" cy="45720"/>
          </a:xfrm>
          <a:prstGeom prst="rect">
            <a:avLst/>
          </a:prstGeom>
          <a:solidFill>
            <a:srgbClr val="C56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Why this matters — strategic context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Where we are today — current state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The gap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Options considered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Recommendation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Cost summary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Risks and mitigation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Implementation plan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The decision we're asking for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F5A5C"/>
                </a:solidFill>
                <a:latin typeface="Source Sans 3"/>
              </a:rPr>
              <a:t>Strategic context &amp; alignment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2011680" cy="45720"/>
          </a:xfrm>
          <a:prstGeom prst="rect">
            <a:avLst/>
          </a:prstGeom>
          <a:solidFill>
            <a:srgbClr val="C56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1">
                <a:solidFill>
                  <a:srgbClr val="6B6660"/>
                </a:solidFill>
                <a:latin typeface="Source Sans 3"/>
              </a:rPr>
              <a:t>•  State the organisational objectives this initiative serves — cite the strategic plan.</a:t>
            </a:r>
          </a:p>
          <a:p>
            <a:pPr>
              <a:spcAft>
                <a:spcPts val="800"/>
              </a:spcAft>
            </a:pPr>
            <a:r>
              <a:rPr sz="1500" b="0" i="1">
                <a:solidFill>
                  <a:srgbClr val="6B6660"/>
                </a:solidFill>
                <a:latin typeface="Source Sans 3"/>
              </a:rPr>
              <a:t>•  Note the relevant industry direction, and where the plan aligns or diverges.</a:t>
            </a:r>
          </a:p>
          <a:p>
            <a:pPr>
              <a:spcAft>
                <a:spcPts val="800"/>
              </a:spcAft>
            </a:pPr>
            <a:r>
              <a:rPr sz="1500" b="0" i="1">
                <a:solidFill>
                  <a:srgbClr val="6B6660"/>
                </a:solidFill>
                <a:latin typeface="Source Sans 3"/>
              </a:rPr>
              <a:t>•  Land the “why this, why now”.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F5A5C"/>
                </a:solidFill>
                <a:latin typeface="Source Sans 3"/>
              </a:rPr>
              <a:t>Current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2011680" cy="45720"/>
          </a:xfrm>
          <a:prstGeom prst="rect">
            <a:avLst/>
          </a:prstGeom>
          <a:solidFill>
            <a:srgbClr val="C56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1">
                <a:solidFill>
                  <a:srgbClr val="6B6660"/>
                </a:solidFill>
                <a:latin typeface="Source Sans 3"/>
              </a:rPr>
              <a:t>•  The system today: platform, condition, availability, recovery.</a:t>
            </a:r>
          </a:p>
          <a:p>
            <a:pPr>
              <a:spcAft>
                <a:spcPts val="800"/>
              </a:spcAft>
            </a:pPr>
            <a:r>
              <a:rPr sz="1500" b="0" i="1">
                <a:solidFill>
                  <a:srgbClr val="6B6660"/>
                </a:solidFill>
                <a:latin typeface="Source Sans 3"/>
              </a:rPr>
              <a:t>•  The key dependencies and integrations.</a:t>
            </a:r>
          </a:p>
          <a:p>
            <a:pPr>
              <a:spcAft>
                <a:spcPts val="800"/>
              </a:spcAft>
            </a:pPr>
            <a:r>
              <a:rPr sz="1500" b="0" i="1">
                <a:solidFill>
                  <a:srgbClr val="6B6660"/>
                </a:solidFill>
                <a:latin typeface="Source Sans 3"/>
              </a:rPr>
              <a:t>•  The limitations that motivate the change.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F5A5C"/>
                </a:solidFill>
                <a:latin typeface="Source Sans 3"/>
              </a:rPr>
              <a:t>The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2011680" cy="45720"/>
          </a:xfrm>
          <a:prstGeom prst="rect">
            <a:avLst/>
          </a:prstGeom>
          <a:solidFill>
            <a:srgbClr val="C56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1">
                <a:solidFill>
                  <a:srgbClr val="6B6660"/>
                </a:solidFill>
                <a:latin typeface="Source Sans 3"/>
              </a:rPr>
              <a:t>•  The handful of gaps between where the organisation wants to be and where it is.</a:t>
            </a:r>
          </a:p>
          <a:p>
            <a:pPr>
              <a:spcAft>
                <a:spcPts val="800"/>
              </a:spcAft>
            </a:pPr>
            <a:r>
              <a:rPr sz="1500" b="0" i="1">
                <a:solidFill>
                  <a:srgbClr val="6B6660"/>
                </a:solidFill>
                <a:latin typeface="Source Sans 3"/>
              </a:rPr>
              <a:t>•  Keep to the material ones — the board needs the headline, not the full 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F5A5C"/>
                </a:solidFill>
                <a:latin typeface="Source Sans 3"/>
              </a:rPr>
              <a:t>Options considered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2011680" cy="45720"/>
          </a:xfrm>
          <a:prstGeom prst="rect">
            <a:avLst/>
          </a:prstGeom>
          <a:solidFill>
            <a:srgbClr val="C56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1">
                <a:solidFill>
                  <a:srgbClr val="6B6660"/>
                </a:solidFill>
                <a:latin typeface="Source Sans 3"/>
              </a:rPr>
              <a:t>•  Option A — [ one-line description ]</a:t>
            </a:r>
          </a:p>
          <a:p>
            <a:pPr>
              <a:spcAft>
                <a:spcPts val="800"/>
              </a:spcAft>
            </a:pPr>
            <a:r>
              <a:rPr sz="1500" b="0" i="1">
                <a:solidFill>
                  <a:srgbClr val="6B6660"/>
                </a:solidFill>
                <a:latin typeface="Source Sans 3"/>
              </a:rPr>
              <a:t>•  Option B — [ one-line description ]</a:t>
            </a:r>
          </a:p>
          <a:p>
            <a:pPr>
              <a:spcAft>
                <a:spcPts val="800"/>
              </a:spcAft>
            </a:pPr>
            <a:r>
              <a:rPr sz="1500" b="0" i="1">
                <a:solidFill>
                  <a:srgbClr val="6B6660"/>
                </a:solidFill>
                <a:latin typeface="Source Sans 3"/>
              </a:rPr>
              <a:t>•  Note any other options considered and why they were set aside.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F5A5C"/>
                </a:solidFill>
                <a:latin typeface="Source Sans 3"/>
              </a:rPr>
              <a:t>Recommendation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2011680" cy="45720"/>
          </a:xfrm>
          <a:prstGeom prst="rect">
            <a:avLst/>
          </a:prstGeom>
          <a:solidFill>
            <a:srgbClr val="C56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0" i="1">
                <a:solidFill>
                  <a:srgbClr val="6B6660"/>
                </a:solidFill>
                <a:latin typeface="Source Sans 3"/>
              </a:rPr>
              <a:t>[ Your recommendation, in one clear sentence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572000"/>
            <a:ext cx="9235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6B6660"/>
                </a:solidFill>
                <a:latin typeface="Source Sans 3"/>
              </a:rPr>
              <a:t>[ The one-line reason the board should back it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F5A5C"/>
                </a:solidFill>
                <a:latin typeface="Source Sans 3"/>
              </a:rPr>
              <a:t>Cost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2011680" cy="45720"/>
          </a:xfrm>
          <a:prstGeom prst="rect">
            <a:avLst/>
          </a:prstGeom>
          <a:solidFill>
            <a:srgbClr val="C56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3291840"/>
                <a:gridCol w="329184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ource Sans 3"/>
                        </a:rPr>
                        <a:t/>
                      </a:r>
                    </a:p>
                  </a:txBody>
                  <a:tcPr anchor="ctr">
                    <a:solidFill>
                      <a:srgbClr val="1F5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ource Sans 3"/>
                        </a:rPr>
                        <a:t>Option A</a:t>
                      </a:r>
                    </a:p>
                  </a:txBody>
                  <a:tcPr anchor="ctr">
                    <a:solidFill>
                      <a:srgbClr val="1F5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ource Sans 3"/>
                        </a:rPr>
                        <a:t>Option B</a:t>
                      </a:r>
                    </a:p>
                  </a:txBody>
                  <a:tcPr anchor="ctr">
                    <a:solidFill>
                      <a:srgbClr val="1F5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329"/>
                          </a:solidFill>
                          <a:latin typeface="Source Sans 3"/>
                        </a:rPr>
                        <a:t>5-year cost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F2329"/>
                          </a:solidFill>
                          <a:latin typeface="Source Sans 3"/>
                        </a:rPr>
                        <a:t>$_____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F2329"/>
                          </a:solidFill>
                          <a:latin typeface="Source Sans 3"/>
                        </a:rPr>
                        <a:t>$_____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329"/>
                          </a:solidFill>
                          <a:latin typeface="Source Sans 3"/>
                        </a:rPr>
                        <a:t>Key quantified benefit</a:t>
                      </a:r>
                    </a:p>
                  </a:txBody>
                  <a:tcPr anchor="ctr">
                    <a:solidFill>
                      <a:srgbClr val="F8F4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329"/>
                          </a:solidFill>
                          <a:latin typeface="Source Sans 3"/>
                        </a:rPr>
                        <a:t>—</a:t>
                      </a:r>
                    </a:p>
                  </a:txBody>
                  <a:tcPr anchor="ctr">
                    <a:solidFill>
                      <a:srgbClr val="F8F4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F2329"/>
                          </a:solidFill>
                          <a:latin typeface="Source Sans 3"/>
                        </a:rPr>
                        <a:t>$_____</a:t>
                      </a:r>
                    </a:p>
                  </a:txBody>
                  <a:tcPr anchor="ctr">
                    <a:solidFill>
                      <a:srgbClr val="F8F4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329"/>
                          </a:solidFill>
                          <a:latin typeface="Source Sans 3"/>
                        </a:rPr>
                        <a:t>Net position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F2329"/>
                          </a:solidFill>
                          <a:latin typeface="Source Sans 3"/>
                        </a:rPr>
                        <a:t>$_____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F2329"/>
                          </a:solidFill>
                          <a:latin typeface="Source Sans 3"/>
                        </a:rPr>
                        <a:t>$_____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F5A5C"/>
                </a:solidFill>
                <a:latin typeface="Source Sans 3"/>
              </a:rPr>
              <a:t>Benefits &amp; value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2011680" cy="45720"/>
          </a:xfrm>
          <a:prstGeom prst="rect">
            <a:avLst/>
          </a:prstGeom>
          <a:solidFill>
            <a:srgbClr val="C56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1">
                <a:solidFill>
                  <a:srgbClr val="6B6660"/>
                </a:solidFill>
                <a:latin typeface="Source Sans 3"/>
              </a:rPr>
              <a:t>•  The decisive non-cost benefits of the recommended option.</a:t>
            </a:r>
          </a:p>
          <a:p>
            <a:pPr>
              <a:spcAft>
                <a:spcPts val="800"/>
              </a:spcAft>
            </a:pPr>
            <a:r>
              <a:rPr sz="1500" b="0" i="1">
                <a:solidFill>
                  <a:srgbClr val="6B6660"/>
                </a:solidFill>
                <a:latin typeface="Source Sans 3"/>
              </a:rPr>
              <a:t>•  Tie each one back to an organisational objective.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F5A5C"/>
                </a:solidFill>
                <a:latin typeface="Source Sans 3"/>
              </a:rPr>
              <a:t>Risks &amp; mitigation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2011680" cy="45720"/>
          </a:xfrm>
          <a:prstGeom prst="rect">
            <a:avLst/>
          </a:prstGeom>
          <a:solidFill>
            <a:srgbClr val="C56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1">
                <a:solidFill>
                  <a:srgbClr val="6B6660"/>
                </a:solidFill>
                <a:latin typeface="Source Sans 3"/>
              </a:rPr>
              <a:t>•  The top two or three risks of the recommended option.</a:t>
            </a:r>
          </a:p>
          <a:p>
            <a:pPr>
              <a:spcAft>
                <a:spcPts val="800"/>
              </a:spcAft>
            </a:pPr>
            <a:r>
              <a:rPr sz="1500" b="0" i="1">
                <a:solidFill>
                  <a:srgbClr val="6B6660"/>
                </a:solidFill>
                <a:latin typeface="Source Sans 3"/>
              </a:rPr>
              <a:t>•  For each, the mitigation that makes it acceptable.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F5A5C"/>
                </a:solidFill>
                <a:latin typeface="Source Sans 3"/>
              </a:rPr>
              <a:t>Implementation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2011680" cy="45720"/>
          </a:xfrm>
          <a:prstGeom prst="rect">
            <a:avLst/>
          </a:prstGeom>
          <a:solidFill>
            <a:srgbClr val="C56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1">
                <a:solidFill>
                  <a:srgbClr val="6B6660"/>
                </a:solidFill>
                <a:latin typeface="Source Sans 3"/>
              </a:rPr>
              <a:t>•  The phases at a glance, with the indicative timeline.</a:t>
            </a:r>
          </a:p>
          <a:p>
            <a:pPr>
              <a:spcAft>
                <a:spcPts val="800"/>
              </a:spcAft>
            </a:pPr>
            <a:r>
              <a:rPr sz="1500" b="0" i="1">
                <a:solidFill>
                  <a:srgbClr val="6B6660"/>
                </a:solidFill>
                <a:latin typeface="Source Sans 3"/>
              </a:rPr>
              <a:t>•  Flag the key dependency or constraint (e.g. the cutover window).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F5A5C"/>
                </a:solidFill>
                <a:latin typeface="Source Sans 3"/>
              </a:rPr>
              <a:t>The decision we're asking for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2011680" cy="45720"/>
          </a:xfrm>
          <a:prstGeom prst="rect">
            <a:avLst/>
          </a:prstGeom>
          <a:solidFill>
            <a:srgbClr val="C56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0" i="1">
                <a:solidFill>
                  <a:srgbClr val="6B6660"/>
                </a:solidFill>
                <a:latin typeface="Source Sans 3"/>
              </a:rPr>
              <a:t>[ The decision you are asking the board to approve today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572000"/>
            <a:ext cx="9235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6B6660"/>
                </a:solidFill>
                <a:latin typeface="Source Sans 3"/>
              </a:rPr>
              <a:t>[ e.g. approve the option, the action plan, and the Year-1 budget 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88136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i="0">
                <a:solidFill>
                  <a:srgbClr val="1F5A5C"/>
                </a:solidFill>
                <a:latin typeface="Source Sans 3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749039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B6660"/>
                </a:solidFill>
                <a:latin typeface="Source Sans 3"/>
              </a:rPr>
              <a:t>[ Presenter name ]  ·  [ contact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5A5C"/>
                </a:solidFill>
                <a:latin typeface="Source Sans 3"/>
              </a:rPr>
              <a:t>YAT</a:t>
            </a:r>
            <a:r>
              <a:rPr sz="1200" b="1" i="0">
                <a:solidFill>
                  <a:srgbClr val="C5613B"/>
                </a:solidFill>
                <a:latin typeface="Source Sans 3"/>
              </a:rPr>
              <a:t>  COLLEGE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