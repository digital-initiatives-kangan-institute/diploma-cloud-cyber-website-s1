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24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5613B"/>
                </a:solidFill>
                <a:latin typeface="Source Sans 3"/>
              </a:rPr>
              <a:t>LMS Replacement — GrayBoard to DOODLE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AccentLoitte Consulting</a:t>
            </a:r>
          </a:p>
          <a:p>
            <a:pPr algn="ctr"/>
            <a:r>
              <a:rPr sz="1300" b="0" i="0">
                <a:solidFill>
                  <a:srgbClr val="6B6660"/>
                </a:solidFill>
                <a:latin typeface="Source Sans 3"/>
              </a:rPr>
              <a:t>Presented to the YAT Board   ·   May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Why now — strategic context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GrayBoard LMS today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gap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Options considered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Recommendation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Cost summary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Why DOODLE — the benefits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Risks and mitigation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Implementation plan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The decision we're asking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Strategic context &amp;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GrayBoard, YAT's in-house LMS, has reached end of supportable life — it needs replacing, not patching.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Across the RTO sector, institutions have moved off bespoke platforms to supported products.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Accessibility (WCAG 2.1 AA / DDA) and reliability are now baseline expectations, not extras.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Replacing GrayBoard serves YAT's goal of reliable, well-supported core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GrayBoard LMS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Bespoke, in-house — at end of supportable life.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Availability and performance are degrading; it struggles at end-of-term assessment peaks.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No vendor support and no product roadmap — maintenance rests on a few YAT staff.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Not WCAG 2.1 AA compliant — a Disability Discrimination Act exposure.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Holds YAT's complete student-record history — which must be preserved through any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Supportability — no vendor support or roadmap.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Reliability — availability below an acceptable baseline.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Compliance — accessibility non-conformance.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Performance — degrades under assessment-week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Options considered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 A — Remediate &amp; retain GrayBoard: accessibility retrofit, hardware refresh, continued in-house maintenance.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 B — Replace with a contemporary on-prem LMS (DOODLE), selected via market evaluation.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A SaaS / cloud LMS was considered but is out of scope for YAT's current on-premises operating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1F5A5C"/>
                </a:solidFill>
                <a:latin typeface="Source Sans 3"/>
              </a:rPr>
              <a:t>Replace GrayBoard with DOODLE, deployed on-premises.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6660"/>
                </a:solidFill>
                <a:latin typeface="Source Sans 3"/>
              </a:rPr>
              <a:t>The only option that is supported, accessible, performant — and future-ready.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Cost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/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>Option A — Remediate</a:t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ource Sans 3"/>
                        </a:rPr>
                        <a:t>Option B — Replace</a:t>
                      </a:r>
                    </a:p>
                  </a:txBody>
                  <a:tcPr anchor="ctr">
                    <a:solidFill>
                      <a:srgbClr val="1F5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One-off (Year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$55,000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$160,000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Recurring (per year)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$67,000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$73,400</a:t>
                      </a:r>
                    </a:p>
                  </a:txBody>
                  <a:tcPr anchor="ctr">
                    <a:solidFill>
                      <a:srgbClr val="F8F4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2329"/>
                          </a:solidFill>
                          <a:latin typeface="Source Sans 3"/>
                        </a:rPr>
                        <a:t>5-year direct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$390,000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329"/>
                          </a:solidFill>
                          <a:latin typeface="Source Sans 3"/>
                        </a:rPr>
                        <a:t>$453,600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Why DOODLE — despite the higher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 B costs ~$63,600 more over five years — the case for it is not cost, but:</a:t>
            </a:r>
          </a:p>
          <a:p>
            <a:pPr lvl="1">
              <a:spcAft>
                <a:spcPts val="800"/>
              </a:spcAft>
            </a:pPr>
            <a:r>
              <a:rPr sz="1400" b="1" i="0">
                <a:solidFill>
                  <a:srgbClr val="C5613B"/>
                </a:solidFill>
                <a:latin typeface="Source Sans 3"/>
              </a:rPr>
              <a:t>–  </a:t>
            </a:r>
            <a:r>
              <a:rPr sz="1400" b="0" i="0">
                <a:solidFill>
                  <a:srgbClr val="1F2329"/>
                </a:solidFill>
                <a:latin typeface="Source Sans 3"/>
              </a:rPr>
              <a:t>Vendor support and an active product roadmap.</a:t>
            </a:r>
          </a:p>
          <a:p>
            <a:pPr lvl="1">
              <a:spcAft>
                <a:spcPts val="800"/>
              </a:spcAft>
            </a:pPr>
            <a:r>
              <a:rPr sz="1400" b="1" i="0">
                <a:solidFill>
                  <a:srgbClr val="C5613B"/>
                </a:solidFill>
                <a:latin typeface="Source Sans 3"/>
              </a:rPr>
              <a:t>–  </a:t>
            </a:r>
            <a:r>
              <a:rPr sz="1400" b="0" i="0">
                <a:solidFill>
                  <a:srgbClr val="1F2329"/>
                </a:solidFill>
                <a:latin typeface="Source Sans 3"/>
              </a:rPr>
              <a:t>WCAG 2.1 AA compliance — closes the DDA exposure.</a:t>
            </a:r>
          </a:p>
          <a:p>
            <a:pPr lvl="1">
              <a:spcAft>
                <a:spcPts val="800"/>
              </a:spcAft>
            </a:pPr>
            <a:r>
              <a:rPr sz="1400" b="1" i="0">
                <a:solidFill>
                  <a:srgbClr val="C5613B"/>
                </a:solidFill>
                <a:latin typeface="Source Sans 3"/>
              </a:rPr>
              <a:t>–  </a:t>
            </a:r>
            <a:r>
              <a:rPr sz="1400" b="0" i="0">
                <a:solidFill>
                  <a:srgbClr val="1F2329"/>
                </a:solidFill>
                <a:latin typeface="Source Sans 3"/>
              </a:rPr>
              <a:t>Meets the ≥ 99% availability baseline and holds performance at peak load.</a:t>
            </a:r>
          </a:p>
          <a:p>
            <a:pPr lvl="1">
              <a:spcAft>
                <a:spcPts val="800"/>
              </a:spcAft>
            </a:pPr>
            <a:r>
              <a:rPr sz="1400" b="1" i="0">
                <a:solidFill>
                  <a:srgbClr val="C5613B"/>
                </a:solidFill>
                <a:latin typeface="Source Sans 3"/>
              </a:rPr>
              <a:t>–  </a:t>
            </a:r>
            <a:r>
              <a:rPr sz="1400" b="0" i="0">
                <a:solidFill>
                  <a:srgbClr val="1F2329"/>
                </a:solidFill>
                <a:latin typeface="Source Sans 3"/>
              </a:rPr>
              <a:t>Reduces the concentration risk of bespoke in-house maintenance.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Option A only defers an unavoidable replacement — and its cost rises as the platform decays.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Risks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Data loss in migration → verified ETL with record reconciliation, parallel running, tested backups.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Cutover disrupts teaching → cutover in the December–January break, with a tested rollback.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Low user adoption → role-based training before cutover, plus a stabilisation support period.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Integration gaps (AD / O365 / AVETMISS) → integration testing during the parallel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Phase 1 — Selection &amp; implementation plan  (2022 H1)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Phase 2 — Deploy, migrate data, parallel run, cutover  (December 2022 – January 2023 break)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Phase 3 — Stabilise, train, document, knowledge transfer, closure  (January 2023)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C5613B"/>
                </a:solidFill>
                <a:latin typeface="Source Sans 3"/>
              </a:rPr>
              <a:t>•  </a:t>
            </a:r>
            <a:r>
              <a:rPr sz="1600" b="0" i="0">
                <a:solidFill>
                  <a:srgbClr val="1F2329"/>
                </a:solidFill>
                <a:latin typeface="Source Sans 3"/>
              </a:rPr>
              <a:t>Staff trained before cutover; cutover scheduled into the teaching break to minimise disruption.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5A5C"/>
                </a:solidFill>
                <a:latin typeface="Source Sans 3"/>
              </a:rPr>
              <a:t>The decision we're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011680" cy="45720"/>
          </a:xfrm>
          <a:prstGeom prst="rect">
            <a:avLst/>
          </a:prstGeom>
          <a:solidFill>
            <a:srgbClr val="C56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1F5A5C"/>
                </a:solidFill>
                <a:latin typeface="Source Sans 3"/>
              </a:rPr>
              <a:t>Approve the replacement, the implementation plan, and the Year-1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6660"/>
                </a:solidFill>
                <a:latin typeface="Source Sans 3"/>
              </a:rPr>
              <a:t>Option B — DOODLE on-premises   ·   Year-1 ≈ $160,000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9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F2329"/>
                </a:solidFill>
                <a:latin typeface="Source Sans 3"/>
              </a:rPr>
              <a:t>This is a fictional organisation used as a case study in an educational context.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881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1F5A5C"/>
                </a:solidFill>
                <a:latin typeface="Source Sans 3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660"/>
                </a:solidFill>
                <a:latin typeface="Source Sans 3"/>
              </a:rPr>
              <a:t>AccentLoitte Consulting  ·  YAT Board, May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5A5C"/>
                </a:solidFill>
                <a:latin typeface="Source Sans 3"/>
              </a:rPr>
              <a:t>YAT</a:t>
            </a:r>
            <a:r>
              <a:rPr sz="1200" b="1" i="0">
                <a:solidFill>
                  <a:srgbClr val="C5613B"/>
                </a:solidFill>
                <a:latin typeface="Source Sans 3"/>
              </a:rPr>
              <a:t> 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